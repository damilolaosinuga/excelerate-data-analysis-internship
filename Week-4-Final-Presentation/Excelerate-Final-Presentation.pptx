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18D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D7-49D5-A097-3888A354A19A}"/>
              </c:ext>
            </c:extLst>
          </c:dPt>
          <c:dPt>
            <c:idx val="1"/>
            <c:invertIfNegative val="0"/>
            <c:bubble3D val="0"/>
            <c:spPr>
              <a:solidFill>
                <a:srgbClr val="1223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D7-49D5-A097-3888A354A19A}"/>
              </c:ext>
            </c:extLst>
          </c:dPt>
          <c:dPt>
            <c:idx val="2"/>
            <c:invertIfNegative val="0"/>
            <c:bubble3D val="0"/>
            <c:spPr>
              <a:solidFill>
                <a:srgbClr val="E66C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D7-49D5-A097-3888A354A1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</c:v>
                </c:pt>
                <c:pt idx="1">
                  <c:v>3598</c:v>
                </c:pt>
                <c:pt idx="2">
                  <c:v>4610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D7-49D5-A097-3888A354A1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118D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93-43C4-9ACD-5EC43E461D1A}"/>
              </c:ext>
            </c:extLst>
          </c:dPt>
          <c:dPt>
            <c:idx val="1"/>
            <c:invertIfNegative val="0"/>
            <c:bubble3D val="0"/>
            <c:spPr>
              <a:solidFill>
                <a:srgbClr val="1223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93-43C4-9ACD-5EC43E461D1A}"/>
              </c:ext>
            </c:extLst>
          </c:dPt>
          <c:dPt>
            <c:idx val="2"/>
            <c:invertIfNegative val="0"/>
            <c:bubble3D val="0"/>
            <c:spPr>
              <a:solidFill>
                <a:srgbClr val="E66C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93-43C4-9ACD-5EC43E461D1A}"/>
              </c:ext>
            </c:extLst>
          </c:dPt>
          <c:dPt>
            <c:idx val="3"/>
            <c:invertIfNegative val="0"/>
            <c:bubble3D val="0"/>
            <c:spPr>
              <a:solidFill>
                <a:srgbClr val="6B00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93-43C4-9ACD-5EC43E461D1A}"/>
              </c:ext>
            </c:extLst>
          </c:dPt>
          <c:dPt>
            <c:idx val="4"/>
            <c:invertIfNegative val="0"/>
            <c:bubble3D val="0"/>
            <c:spPr>
              <a:solidFill>
                <a:srgbClr val="E044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C93-43C4-9ACD-5EC43E461D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Internship</c:v>
                </c:pt>
                <c:pt idx="1">
                  <c:v>Course</c:v>
                </c:pt>
                <c:pt idx="2">
                  <c:v>Event</c:v>
                </c:pt>
                <c:pt idx="3">
                  <c:v>Competition</c:v>
                </c:pt>
                <c:pt idx="4">
                  <c:v>Engagement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5218</c:v>
                </c:pt>
                <c:pt idx="1">
                  <c:v>1974</c:v>
                </c:pt>
                <c:pt idx="2">
                  <c:v>523</c:v>
                </c:pt>
                <c:pt idx="3">
                  <c:v>417</c:v>
                </c:pt>
                <c:pt idx="4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C93-43C4-9ACD-5EC43E461D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Applications</c:v>
                </c:pt>
              </c:strCache>
            </c:strRef>
          </c:tx>
          <c:spPr>
            <a:ln w="31750" cap="flat">
              <a:solidFill>
                <a:srgbClr val="118D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18DFF"/>
              </a:solidFill>
              <a:ln w="9525" cap="flat">
                <a:solidFill>
                  <a:srgbClr val="118DFF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Feb'22</c:v>
                </c:pt>
                <c:pt idx="1">
                  <c:v>Mar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  <c:pt idx="9">
                  <c:v>Dec</c:v>
                </c:pt>
                <c:pt idx="10">
                  <c:v>Jan'23</c:v>
                </c:pt>
                <c:pt idx="11">
                  <c:v>Feb</c:v>
                </c:pt>
                <c:pt idx="12">
                  <c:v>Mar</c:v>
                </c:pt>
                <c:pt idx="13">
                  <c:v>Apr</c:v>
                </c:pt>
                <c:pt idx="14">
                  <c:v>May</c:v>
                </c:pt>
                <c:pt idx="15">
                  <c:v>Jun</c:v>
                </c:pt>
                <c:pt idx="16">
                  <c:v>Jul</c:v>
                </c:pt>
                <c:pt idx="17">
                  <c:v>Aug</c:v>
                </c:pt>
                <c:pt idx="18">
                  <c:v>Sep</c:v>
                </c:pt>
                <c:pt idx="19">
                  <c:v>Oct</c:v>
                </c:pt>
                <c:pt idx="20">
                  <c:v>Nov</c:v>
                </c:pt>
                <c:pt idx="21">
                  <c:v>Dec</c:v>
                </c:pt>
                <c:pt idx="22">
                  <c:v>Jan'24</c:v>
                </c:pt>
                <c:pt idx="23">
                  <c:v>Feb</c:v>
                </c:pt>
                <c:pt idx="24">
                  <c:v>Mar</c:v>
                </c:pt>
                <c:pt idx="25">
                  <c:v>Apr</c:v>
                </c:pt>
                <c:pt idx="26">
                  <c:v>May</c:v>
                </c:pt>
                <c:pt idx="27">
                  <c:v>Jun</c:v>
                </c:pt>
                <c:pt idx="28">
                  <c:v>Jul</c:v>
                </c:pt>
                <c:pt idx="29">
                  <c:v>Aug</c:v>
                </c:pt>
                <c:pt idx="30">
                  <c:v>Sep</c:v>
                </c:pt>
                <c:pt idx="31">
                  <c:v>Oct</c:v>
                </c:pt>
                <c:pt idx="32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14</c:v>
                </c:pt>
                <c:pt idx="8">
                  <c:v>8</c:v>
                </c:pt>
                <c:pt idx="9">
                  <c:v>8</c:v>
                </c:pt>
                <c:pt idx="10">
                  <c:v>96</c:v>
                </c:pt>
                <c:pt idx="11">
                  <c:v>120</c:v>
                </c:pt>
                <c:pt idx="12">
                  <c:v>176</c:v>
                </c:pt>
                <c:pt idx="13">
                  <c:v>117</c:v>
                </c:pt>
                <c:pt idx="14">
                  <c:v>162</c:v>
                </c:pt>
                <c:pt idx="15">
                  <c:v>411</c:v>
                </c:pt>
                <c:pt idx="16">
                  <c:v>267</c:v>
                </c:pt>
                <c:pt idx="17">
                  <c:v>699</c:v>
                </c:pt>
                <c:pt idx="18">
                  <c:v>466</c:v>
                </c:pt>
                <c:pt idx="19">
                  <c:v>242</c:v>
                </c:pt>
                <c:pt idx="20">
                  <c:v>209</c:v>
                </c:pt>
                <c:pt idx="21">
                  <c:v>633</c:v>
                </c:pt>
                <c:pt idx="22">
                  <c:v>1459</c:v>
                </c:pt>
                <c:pt idx="23">
                  <c:v>1257</c:v>
                </c:pt>
                <c:pt idx="24">
                  <c:v>165</c:v>
                </c:pt>
                <c:pt idx="25">
                  <c:v>216</c:v>
                </c:pt>
                <c:pt idx="26">
                  <c:v>255</c:v>
                </c:pt>
                <c:pt idx="27">
                  <c:v>170</c:v>
                </c:pt>
                <c:pt idx="28">
                  <c:v>176</c:v>
                </c:pt>
                <c:pt idx="29">
                  <c:v>264</c:v>
                </c:pt>
                <c:pt idx="30">
                  <c:v>179</c:v>
                </c:pt>
                <c:pt idx="31">
                  <c:v>133</c:v>
                </c:pt>
                <c:pt idx="32">
                  <c:v>155</c:v>
                </c:pt>
                <c:pt idx="33">
                  <c:v>181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F14-4003-9CCC-4A0750BDB4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Participated</c:v>
                </c:pt>
              </c:strCache>
            </c:strRef>
          </c:tx>
          <c:spPr>
            <a:solidFill>
              <a:srgbClr val="118D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Internship</c:v>
                </c:pt>
                <c:pt idx="1">
                  <c:v>Course</c:v>
                </c:pt>
                <c:pt idx="2">
                  <c:v>Event</c:v>
                </c:pt>
                <c:pt idx="3">
                  <c:v>Competition</c:v>
                </c:pt>
                <c:pt idx="4">
                  <c:v>Engagement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1133</c:v>
                </c:pt>
                <c:pt idx="1">
                  <c:v>1845</c:v>
                </c:pt>
                <c:pt idx="2">
                  <c:v>503</c:v>
                </c:pt>
                <c:pt idx="3">
                  <c:v>350</c:v>
                </c:pt>
                <c:pt idx="4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17-436B-85FF-CA217CE1E9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Dropped Out</c:v>
                </c:pt>
              </c:strCache>
            </c:strRef>
          </c:tx>
          <c:spPr>
            <a:solidFill>
              <a:srgbClr val="E66C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Internship</c:v>
                </c:pt>
                <c:pt idx="1">
                  <c:v>Course</c:v>
                </c:pt>
                <c:pt idx="2">
                  <c:v>Event</c:v>
                </c:pt>
                <c:pt idx="3">
                  <c:v>Competition</c:v>
                </c:pt>
                <c:pt idx="4">
                  <c:v>Engagement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656</c:v>
                </c:pt>
                <c:pt idx="1">
                  <c:v>24</c:v>
                </c:pt>
                <c:pt idx="2">
                  <c:v>2</c:v>
                </c:pt>
                <c:pt idx="3">
                  <c:v>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17-436B-85FF-CA217CE1E9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78-42E5-AC91-EEB663A72D6B}"/>
              </c:ext>
            </c:extLst>
          </c:dPt>
          <c:dPt>
            <c:idx val="1"/>
            <c:bubble3D val="0"/>
            <c:spPr>
              <a:solidFill>
                <a:srgbClr val="E66C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78-42E5-AC91-EEB663A72D6B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1B3E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78-42E5-AC91-EEB663A72D6B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D1B3E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78-42E5-AC91-EEB663A72D6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Participated (47.2%)</c:v>
                </c:pt>
                <c:pt idx="1">
                  <c:v>Churned (52.8%)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4043</c:v>
                </c:pt>
                <c:pt idx="1">
                  <c:v>4515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78-42E5-AC91-EEB663A72D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E66C3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6C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8C-4543-9B09-450196B02A51}"/>
              </c:ext>
            </c:extLst>
          </c:dPt>
          <c:dPt>
            <c:idx val="1"/>
            <c:invertIfNegative val="0"/>
            <c:bubble3D val="0"/>
            <c:spPr>
              <a:solidFill>
                <a:srgbClr val="E66C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8C-4543-9B09-450196B02A51}"/>
              </c:ext>
            </c:extLst>
          </c:dPt>
          <c:dPt>
            <c:idx val="2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8C-4543-9B09-450196B02A51}"/>
              </c:ext>
            </c:extLst>
          </c:dPt>
          <c:dPt>
            <c:idx val="3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D8C-4543-9B09-450196B02A51}"/>
              </c:ext>
            </c:extLst>
          </c:dPt>
          <c:dPt>
            <c:idx val="4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D8C-4543-9B09-450196B02A51}"/>
              </c:ext>
            </c:extLst>
          </c:dPt>
          <c:dPt>
            <c:idx val="5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D8C-4543-9B09-450196B02A51}"/>
              </c:ext>
            </c:extLst>
          </c:dPt>
          <c:dPt>
            <c:idx val="6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D8C-4543-9B09-450196B02A51}"/>
              </c:ext>
            </c:extLst>
          </c:dPt>
          <c:dPt>
            <c:idx val="7"/>
            <c:invertIfNegative val="0"/>
            <c:bubble3D val="0"/>
            <c:spPr>
              <a:solidFill>
                <a:srgbClr val="1223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D8C-4543-9B09-450196B02A51}"/>
              </c:ext>
            </c:extLst>
          </c:dPt>
          <c:dPt>
            <c:idx val="8"/>
            <c:invertIfNegative val="0"/>
            <c:bubble3D val="0"/>
            <c:spPr>
              <a:solidFill>
                <a:srgbClr val="1223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D8C-4543-9B09-450196B02A51}"/>
              </c:ext>
            </c:extLst>
          </c:dPt>
          <c:dPt>
            <c:idx val="9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D8C-4543-9B09-450196B02A51}"/>
              </c:ext>
            </c:extLst>
          </c:dPt>
          <c:dPt>
            <c:idx val="10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0D8C-4543-9B09-450196B02A51}"/>
              </c:ext>
            </c:extLst>
          </c:dPt>
          <c:dPt>
            <c:idx val="11"/>
            <c:invertIfNegative val="0"/>
            <c:bubble3D val="0"/>
            <c:spPr>
              <a:solidFill>
                <a:srgbClr val="118D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0D8C-4543-9B09-450196B02A51}"/>
              </c:ext>
            </c:extLst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1555</c:v>
                </c:pt>
                <c:pt idx="1">
                  <c:v>1380</c:v>
                </c:pt>
                <c:pt idx="2">
                  <c:v>343</c:v>
                </c:pt>
                <c:pt idx="3">
                  <c:v>333</c:v>
                </c:pt>
                <c:pt idx="4">
                  <c:v>420</c:v>
                </c:pt>
                <c:pt idx="5">
                  <c:v>582</c:v>
                </c:pt>
                <c:pt idx="6">
                  <c:v>445</c:v>
                </c:pt>
                <c:pt idx="7">
                  <c:v>964</c:v>
                </c:pt>
                <c:pt idx="8">
                  <c:v>646</c:v>
                </c:pt>
                <c:pt idx="9">
                  <c:v>389</c:v>
                </c:pt>
                <c:pt idx="10">
                  <c:v>372</c:v>
                </c:pt>
                <c:pt idx="11">
                  <c:v>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0D8C-4543-9B09-450196B02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12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Data Insights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Trends · Churn Analysis · Forecasting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5029200" cy="0"/>
          </a:xfrm>
          <a:prstGeom prst="line">
            <a:avLst/>
          </a:prstGeom>
          <a:noFill/>
          <a:ln w="19050">
            <a:solidFill>
              <a:srgbClr val="2A3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Internship  ·  Team 4  ·  March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006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291840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3291840" cy="64008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accepted applicants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participate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34564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4,515 people dropped 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8,558 total applications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core challenge.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051560"/>
            <a:ext cx="4892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1051560"/>
            <a:ext cx="54864" cy="114300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389888"/>
            <a:ext cx="457200" cy="45720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Application Volume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14356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8,558 applications across 23 opportunities — but volume alone doesn't equal engagement.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313432"/>
            <a:ext cx="4892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2313432"/>
            <a:ext cx="54864" cy="1143000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2651760"/>
            <a:ext cx="457200" cy="457200"/>
          </a:xfrm>
          <a:prstGeom prst="ellipse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24048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Drop-Off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2697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everyone who gets accepted simply doesn't show up to participate.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3575304"/>
            <a:ext cx="4892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0" y="3575304"/>
            <a:ext cx="54864" cy="114300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3913632"/>
            <a:ext cx="457200" cy="457200"/>
          </a:xfrm>
          <a:prstGeom prst="ellipse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6667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17720" y="39593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predictive model, there is no way to identify at-risk students before they vanish.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· APPROACH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 Through the Data — Week by Week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2057400" cy="50292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12801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Setup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1572768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8,558 application records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 &amp; invalid entries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date formatting errors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core derived features (flags, age, lag)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0280" y="2880360"/>
            <a:ext cx="182880" cy="0"/>
          </a:xfrm>
          <a:prstGeom prst="line">
            <a:avLst/>
          </a:prstGeom>
          <a:noFill/>
          <a:ln w="25400">
            <a:solidFill>
              <a:srgbClr val="11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2770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8DFF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005840"/>
            <a:ext cx="2057400" cy="502920"/>
          </a:xfrm>
          <a:prstGeom prst="rect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12801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2888" y="1572768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trends by year, month,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acceptance &amp; participation rates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seasonal peaks (Jan, Sep)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Power BI dashboard visuals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880360"/>
            <a:ext cx="182880" cy="0"/>
          </a:xfrm>
          <a:prstGeom prst="line">
            <a:avLst/>
          </a:prstGeom>
          <a:noFill/>
          <a:ln w="25400">
            <a:solidFill>
              <a:srgbClr val="1223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770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239E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2057400" cy="502920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12801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1572768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 forecasting models (A–D)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churn classification model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forecast: R² = 0.445 (Model B)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model: 83.4% accuracy, 93% recall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20840" y="2880360"/>
            <a:ext cx="182880" cy="0"/>
          </a:xfrm>
          <a:prstGeom prst="line">
            <a:avLst/>
          </a:prstGeom>
          <a:noFill/>
          <a:ln w="25400">
            <a:solidFill>
              <a:srgbClr val="E66C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277063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6C37"/>
                </a:solidFill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03720" y="1005840"/>
            <a:ext cx="20574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005840"/>
            <a:ext cx="2057400" cy="50292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02412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12801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Reporting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13448" y="1572768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models into 5 recommendations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Power BI interactive dashboard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full analytical report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this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EDA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— Exploratory Analysis at a Glance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96012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97280"/>
            <a:ext cx="184708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02336" y="1562710"/>
            <a:ext cx="18470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05840"/>
            <a:ext cx="54864" cy="960120"/>
          </a:xfrm>
          <a:prstGeom prst="rect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097280"/>
            <a:ext cx="184708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4,043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78608" y="1562710"/>
            <a:ext cx="18470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005840"/>
            <a:ext cx="54864" cy="960120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184708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1562710"/>
            <a:ext cx="18470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005840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005840"/>
            <a:ext cx="54864" cy="96012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097280"/>
            <a:ext cx="184708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31152" y="1562710"/>
            <a:ext cx="184708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411480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Year</a:t>
            </a:r>
            <a:endParaRPr lang="en-US" sz="12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320040" y="2487168"/>
          <a:ext cx="4023360" cy="217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4617720" y="2103120"/>
            <a:ext cx="425196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754880" y="2212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by Category</a:t>
            </a:r>
            <a:endParaRPr lang="en-US" sz="12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4617720" y="2487168"/>
          <a:ext cx="4206240" cy="217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EDA FINDINGS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Trend Over Time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377440" cy="3749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37744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43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just launched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28800"/>
            <a:ext cx="192024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3,598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ramp-up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97480"/>
            <a:ext cx="192024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52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1,459 in one month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ever — likely a campaign spike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192024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21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Full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4,610 total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 confirmed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80360" y="1005840"/>
            <a:ext cx="59436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20" name="Chart 0"/>
          <p:cNvGraphicFramePr/>
          <p:nvPr/>
        </p:nvGraphicFramePr>
        <p:xfrm>
          <a:off x="2880360" y="1005840"/>
          <a:ext cx="594360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CHURN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Deep Dive — Participants vs Drop-Outs by Category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66928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274320" y="1005840"/>
          <a:ext cx="566928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05840"/>
            <a:ext cx="26517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72200" y="1005840"/>
            <a:ext cx="54864" cy="676656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81928" y="1051560"/>
            <a:ext cx="6102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59168" y="10515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81928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656 of 1,789 accepted dropped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— needs urgent action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72200" y="1755648"/>
            <a:ext cx="26517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755648"/>
            <a:ext cx="54864" cy="676656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81928" y="1801368"/>
            <a:ext cx="6102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059168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81928" y="2139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1,869 accepted dropped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stable — near-perfect retention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2200" y="2505456"/>
            <a:ext cx="26517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72200" y="2505456"/>
            <a:ext cx="54864" cy="676656"/>
          </a:xfrm>
          <a:prstGeom prst="rect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81928" y="2551176"/>
            <a:ext cx="6102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2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059168" y="25511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81928" y="2889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505 accepted dropped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virtually no churn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72200" y="3255264"/>
            <a:ext cx="26517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72200" y="3255264"/>
            <a:ext cx="54864" cy="676656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81928" y="3300984"/>
            <a:ext cx="6102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059168" y="3300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281928" y="3639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355 accepted dropped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retention across the board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72200" y="4005072"/>
            <a:ext cx="26517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72200" y="4005072"/>
            <a:ext cx="54864" cy="67665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4050792"/>
            <a:ext cx="658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059168" y="4050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281928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115 dropped 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retention — gold standard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CHURN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Problem — Where Churn Is Concentrated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Who Participated vs Who Churned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3716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617720" y="1005840"/>
            <a:ext cx="4206240" cy="37673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005840"/>
            <a:ext cx="4206240" cy="54864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Category — Detailed Breakdown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1444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5,218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17190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all apps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1975104"/>
            <a:ext cx="388620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1,789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23591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34.3% acceptance rate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54880" y="2615184"/>
            <a:ext cx="388620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27249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0" y="2999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those accepted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3255264"/>
            <a:ext cx="388620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3364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Out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92240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754880" y="36393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A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 churn rate 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754880" y="3895344"/>
            <a:ext cx="3886200" cy="0"/>
          </a:xfrm>
          <a:prstGeom prst="line">
            <a:avLst/>
          </a:prstGeom>
          <a:noFill/>
          <a:ln w="6350">
            <a:solidFill>
              <a:srgbClr val="2A3F6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92240" y="4005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3,414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754880" y="4279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rejection pool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54880" y="4547865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churn drives 99%+ of the platform's total dropout problem.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CHURN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Applications Spike — and When Does Churn Peak?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155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Application Volume (All Years Combined)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371600"/>
          <a:ext cx="54864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11480" y="4462272"/>
            <a:ext cx="1324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Jan &amp; Feb = peak surge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108960" y="4462272"/>
            <a:ext cx="17491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22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Aug &amp; Dec = secondary peaks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0" y="1005840"/>
            <a:ext cx="29260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1005840"/>
            <a:ext cx="54864" cy="1170432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097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&amp; February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135331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1,555 + 1,380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intake — churn risk highest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aligned with new year enrolments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286000"/>
            <a:ext cx="29260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286000"/>
            <a:ext cx="54864" cy="1170432"/>
          </a:xfrm>
          <a:prstGeom prst="rect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377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&amp; December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80760" y="263347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964 + 822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peaks — mid &amp; end of year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transition periods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3566160"/>
            <a:ext cx="29260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43600" y="3566160"/>
            <a:ext cx="54864" cy="11704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3657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&amp; March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80760" y="3913632"/>
            <a:ext cx="2651760" cy="645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+ 343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volume months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time to run outreach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OUR MODELS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Models Told Us — Results Without the Maths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MODELS — Predicting Application Volume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011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01168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308506"/>
            <a:ext cx="19933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(Linear Regression)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Only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the growth direction but missed seasonal peaks entirely.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633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0.13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0592" y="1143000"/>
            <a:ext cx="2011680" cy="2148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143000"/>
            <a:ext cx="2011680" cy="54864"/>
          </a:xfrm>
          <a:prstGeom prst="rect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35879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Linear Regression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Seasonality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both growth and Jan/Feb/Aug peaks. Best performer.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2633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0.45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22192" y="1481785"/>
            <a:ext cx="594360" cy="228600"/>
          </a:xfrm>
          <a:prstGeom prst="rect">
            <a:avLst/>
          </a:prstGeom>
          <a:solidFill>
            <a:srgbClr val="E66C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6864" y="1143000"/>
            <a:ext cx="2011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143000"/>
            <a:ext cx="2011680" cy="54864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 Random Forest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8304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</a:p>
        </p:txBody>
      </p:sp>
      <p:sp>
        <p:nvSpPr>
          <p:cNvPr id="24" name="Text 22"/>
          <p:cNvSpPr/>
          <p:nvPr/>
        </p:nvSpPr>
        <p:spPr>
          <a:xfrm>
            <a:off x="4718304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complex for our dataset — ended up memorising rather than learning.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18304" y="2633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−0.18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03136" y="1143000"/>
            <a:ext cx="20116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143000"/>
            <a:ext cx="2011680" cy="54864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1152" y="13336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 Random Forest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1499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Lag Features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94576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historical lag data but still couldn't generalise well.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94576" y="2633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74320" y="3456432"/>
            <a:ext cx="8595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478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MODEL — Identifying At-Risk Applicants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822192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822192"/>
            <a:ext cx="54864" cy="100584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3913632"/>
            <a:ext cx="18470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02336" y="4405579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50592" y="3822192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50592" y="3822192"/>
            <a:ext cx="54864" cy="1005840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78608" y="3913632"/>
            <a:ext cx="18470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2578608" y="4405579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26864" y="3822192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26864" y="3822192"/>
            <a:ext cx="54864" cy="1005840"/>
          </a:xfrm>
          <a:prstGeom prst="rect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913632"/>
            <a:ext cx="18470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2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754880" y="4405579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03136" y="3822192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803136" y="3822192"/>
            <a:ext cx="54864" cy="100584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39128" y="4123941"/>
            <a:ext cx="2231136" cy="2286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r>
              <a:rPr lang="en-US" dirty="0"/>
              <a:t> </a:t>
            </a:r>
            <a:r>
              <a:rPr lang="en-US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31152" y="4405579"/>
            <a:ext cx="18470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· RECOMMENDATIONS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Recommendations — What the Platform Should Do Next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192024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43000"/>
            <a:ext cx="384048" cy="384048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152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Internship 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5727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3-touchpoint sequence after acceptance: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24-hr welcome message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7-day inactivity check-in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14-day escalation to coordinator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514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36.7% internship churn rate directly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54864" cy="1920240"/>
          </a:xfrm>
          <a:prstGeom prst="rect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1143000"/>
            <a:ext cx="384048" cy="384048"/>
          </a:xfrm>
          <a:prstGeom prst="ellipse">
            <a:avLst/>
          </a:prstGeom>
          <a:solidFill>
            <a:srgbClr val="12239E"/>
          </a:solidFill>
          <a:ln w="12700">
            <a:solidFill>
              <a:srgbClr val="1223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04488" y="1152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Events &amp; Engagement as Feeders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15727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start with low-barrier programmes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(96%+ acceptance, 0% churn) before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competitive internships.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0712" y="2514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platform familiarity — reduces cold dropout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54864" cy="1920240"/>
          </a:xfrm>
          <a:prstGeom prst="rect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1143000"/>
            <a:ext cx="384048" cy="384048"/>
          </a:xfrm>
          <a:prstGeom prst="ellipse">
            <a:avLst/>
          </a:prstGeom>
          <a:solidFill>
            <a:srgbClr val="E66C37"/>
          </a:solidFill>
          <a:ln w="12700">
            <a:solidFill>
              <a:srgbClr val="E66C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152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Capacity for Q1 Peaks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82512" y="157276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forecast: ~1,037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forecast: ~801 applications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Pre-scale reviewer teams before December.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2514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6C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processing delays that push up churn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37360" y="315468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737360" y="3154680"/>
            <a:ext cx="54864" cy="1920240"/>
          </a:xfrm>
          <a:prstGeom prst="rect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1952" y="3291840"/>
            <a:ext cx="384048" cy="384048"/>
          </a:xfrm>
          <a:prstGeom prst="ellipse">
            <a:avLst/>
          </a:prstGeom>
          <a:solidFill>
            <a:srgbClr val="6B007B"/>
          </a:solidFill>
          <a:ln w="12700">
            <a:solidFill>
              <a:srgbClr val="6B00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0195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95728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Churn Model Live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01952" y="37216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new cohort at acceptance.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at-risk students and trigger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early-intervention workflows.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01952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0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recall — catches 9/10 at-risk students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15468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154680"/>
            <a:ext cx="54864" cy="192024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3291840"/>
            <a:ext cx="384048" cy="384048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67528" y="3300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Outreach Campaign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73752" y="372160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&amp; March are the lowest-volume months.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Course &amp; Engagement campaigns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the seasonal demand gap.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73752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feast-or-famine application cycle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057400" y="2072640"/>
            <a:ext cx="5029200" cy="0"/>
          </a:xfrm>
          <a:prstGeom prst="line">
            <a:avLst/>
          </a:prstGeom>
          <a:noFill/>
          <a:ln w="19050">
            <a:solidFill>
              <a:srgbClr val="2A3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Excelerate Internship  ·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885</Words>
  <Application>Microsoft Office PowerPoint</Application>
  <PresentationFormat>On-screen Show (16:9)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Damilola Osinuga</cp:lastModifiedBy>
  <cp:revision>2</cp:revision>
  <dcterms:created xsi:type="dcterms:W3CDTF">2026-03-11T09:10:42Z</dcterms:created>
  <dcterms:modified xsi:type="dcterms:W3CDTF">2026-03-11T09:29:45Z</dcterms:modified>
</cp:coreProperties>
</file>